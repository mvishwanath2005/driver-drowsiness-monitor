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956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70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644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52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989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87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89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86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25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46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233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816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904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169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888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81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42E83-3835-433C-BC35-FF07F546E323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85C20-A6DE-40FC-A247-2168EA273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7425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8A0F2-6E79-D8E8-8E39-2B6068314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effectLst/>
                <a:latin typeface="Google Sans Flex"/>
              </a:rPr>
              <a:t>Spatial Facial Landmark Tracking for Automated Drowsiness Detection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1B30E5-47FB-2CC5-B384-AF4FB39E6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78062"/>
          </a:xfrm>
        </p:spPr>
        <p:txBody>
          <a:bodyPr>
            <a:normAutofit lnSpcReduction="10000"/>
          </a:bodyPr>
          <a:lstStyle/>
          <a:p>
            <a:r>
              <a:rPr lang="en-US" b="0" i="0" dirty="0">
                <a:effectLst/>
                <a:latin typeface="Google Sans Flex"/>
              </a:rPr>
              <a:t>A real-time computer vision system for driver safety monitoring</a:t>
            </a:r>
          </a:p>
          <a:p>
            <a:endParaRPr lang="en-US" b="0" i="0" dirty="0">
              <a:effectLst/>
              <a:latin typeface="Google Sans Flex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b="1" i="0" dirty="0">
                <a:effectLst/>
                <a:latin typeface="Google Sans Flex"/>
              </a:rPr>
              <a:t>Presenter:</a:t>
            </a:r>
            <a:r>
              <a:rPr lang="en-IN" b="0" i="0" dirty="0">
                <a:effectLst/>
                <a:latin typeface="Google Sans Flex"/>
              </a:rPr>
              <a:t> M KASHI VISHWANATH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b="0" i="0" dirty="0">
                <a:effectLst/>
                <a:latin typeface="Google Sans Flex"/>
              </a:rPr>
              <a:t>URK23EC4015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782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81F7-2236-D49A-D450-6B2F15206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258"/>
            <a:ext cx="8610600" cy="1293028"/>
          </a:xfrm>
        </p:spPr>
        <p:txBody>
          <a:bodyPr/>
          <a:lstStyle/>
          <a:p>
            <a:pPr algn="l"/>
            <a:r>
              <a:rPr lang="en-IN" b="1" i="0" dirty="0">
                <a:effectLst/>
                <a:latin typeface="Google Sans Flex"/>
              </a:rPr>
              <a:t>Problem Statement</a:t>
            </a:r>
            <a:br>
              <a:rPr lang="en-IN" b="1" i="0" dirty="0">
                <a:effectLst/>
                <a:latin typeface="Google Sans Flex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83242-2B31-ABD5-985A-A170A82EC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45"/>
            <a:ext cx="9595104" cy="342303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Google Sans Flex"/>
              </a:rPr>
              <a:t>The Issue:</a:t>
            </a:r>
            <a:r>
              <a:rPr lang="en-US" b="0" i="0" dirty="0">
                <a:effectLst/>
                <a:latin typeface="Google Sans Flex"/>
              </a:rPr>
              <a:t> Fatigue and micro-sleeps are leading causes of severe road accidents.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b="0" i="0" dirty="0">
              <a:effectLst/>
              <a:latin typeface="Google Sans Flex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Google Sans Flex"/>
              </a:rPr>
              <a:t>The Gap:</a:t>
            </a:r>
            <a:r>
              <a:rPr lang="en-US" b="0" i="0" dirty="0">
                <a:effectLst/>
                <a:latin typeface="Google Sans Flex"/>
              </a:rPr>
              <a:t> Many existing safety systems rely on vehicular behavior (lane drifting), which only detects danger </a:t>
            </a:r>
            <a:r>
              <a:rPr lang="en-US" b="0" i="1" dirty="0">
                <a:effectLst/>
                <a:latin typeface="Google Sans Flex"/>
              </a:rPr>
              <a:t>after</a:t>
            </a:r>
            <a:r>
              <a:rPr lang="en-US" b="0" i="0" dirty="0">
                <a:effectLst/>
                <a:latin typeface="Google Sans Flex"/>
              </a:rPr>
              <a:t> a driver has already lost focus.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b="0" i="0" dirty="0">
              <a:effectLst/>
              <a:latin typeface="Google Sans Flex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Google Sans Flex"/>
              </a:rPr>
              <a:t>The Goal:</a:t>
            </a:r>
            <a:r>
              <a:rPr lang="en-US" b="0" i="0" dirty="0">
                <a:effectLst/>
                <a:latin typeface="Google Sans Flex"/>
              </a:rPr>
              <a:t> Build a proactive, non-intrusive monitoring system that evaluates the driver's biological state in real-time before an accident occurs.</a:t>
            </a:r>
          </a:p>
          <a:p>
            <a:endParaRPr lang="en-IN" dirty="0"/>
          </a:p>
        </p:txBody>
      </p:sp>
      <p:pic>
        <p:nvPicPr>
          <p:cNvPr id="1026" name="Picture 2" descr="Real-Time Deep Learning-Based Drowsiness Detection: Leveraging  Computer-Vision and Eye-Blink Analyses for Enhanced Road Safety">
            <a:extLst>
              <a:ext uri="{FF2B5EF4-FFF2-40B4-BE49-F238E27FC236}">
                <a16:creationId xmlns:a16="http://schemas.microsoft.com/office/drawing/2014/main" id="{1251224C-C1D2-0CAA-CDC9-70D6FFDFB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4501" y="5031549"/>
            <a:ext cx="4182998" cy="146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08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FF476-CBE5-AE1E-919B-D86C5EF52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6817"/>
            <a:ext cx="8610600" cy="1293028"/>
          </a:xfrm>
        </p:spPr>
        <p:txBody>
          <a:bodyPr/>
          <a:lstStyle/>
          <a:p>
            <a:pPr algn="l"/>
            <a:r>
              <a:rPr lang="en-IN" b="1" i="0" dirty="0">
                <a:effectLst/>
                <a:latin typeface="Google Sans Flex"/>
              </a:rPr>
              <a:t>System Architecture</a:t>
            </a:r>
            <a:br>
              <a:rPr lang="en-IN" b="1" i="0" dirty="0">
                <a:effectLst/>
                <a:latin typeface="Google Sans Flex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7CEC-EBB0-457F-19FF-48113C94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44007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2000" b="1" i="0" dirty="0">
                <a:effectLst/>
                <a:latin typeface="Google Sans Flex"/>
              </a:rPr>
              <a:t>Input:</a:t>
            </a:r>
            <a:r>
              <a:rPr lang="en-IN" sz="2000" b="0" i="0" dirty="0">
                <a:effectLst/>
                <a:latin typeface="Google Sans Flex"/>
              </a:rPr>
              <a:t> Continuous video stream from a dashboard-mounted camera.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2000" b="1" i="0" dirty="0">
                <a:effectLst/>
                <a:latin typeface="Google Sans Flex"/>
              </a:rPr>
              <a:t>Processing Pipeline:</a:t>
            </a:r>
            <a:endParaRPr lang="en-IN" sz="2000" b="0" i="0" dirty="0">
              <a:effectLst/>
              <a:latin typeface="Google Sans Flex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b="0" i="0" dirty="0">
                <a:effectLst/>
                <a:latin typeface="Google Sans Flex"/>
              </a:rPr>
              <a:t>Grayscale conversion via OpenCV for performance optimization.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b="0" i="0" dirty="0">
                <a:effectLst/>
                <a:latin typeface="Google Sans Flex"/>
              </a:rPr>
              <a:t>Face detection to isolate the region of interest.</a:t>
            </a:r>
          </a:p>
          <a:p>
            <a:pPr lvl="1">
              <a:lnSpc>
                <a:spcPts val="15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1800" b="0" i="0" dirty="0">
                <a:effectLst/>
                <a:latin typeface="Google Sans Flex"/>
              </a:rPr>
              <a:t>68-point facial landmark mapping using </a:t>
            </a:r>
            <a:r>
              <a:rPr lang="en-IN" sz="1800" b="0" i="0" dirty="0" err="1">
                <a:effectLst/>
                <a:latin typeface="Google Sans Mono"/>
              </a:rPr>
              <a:t>dlib</a:t>
            </a:r>
            <a:r>
              <a:rPr lang="en-IN" sz="1800" b="0" i="0" dirty="0">
                <a:effectLst/>
                <a:latin typeface="Google Sans Flex"/>
              </a:rPr>
              <a:t>.</a:t>
            </a:r>
          </a:p>
          <a:p>
            <a:pPr lvl="1">
              <a:lnSpc>
                <a:spcPts val="15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IN" sz="1800" dirty="0">
              <a:latin typeface="Google Sans Flex"/>
            </a:endParaRPr>
          </a:p>
          <a:p>
            <a:pPr lvl="1">
              <a:lnSpc>
                <a:spcPts val="15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IN" sz="1800" dirty="0">
              <a:latin typeface="Google Sans Flex"/>
            </a:endParaRPr>
          </a:p>
          <a:p>
            <a:pPr lvl="1">
              <a:lnSpc>
                <a:spcPts val="15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IN" sz="1800" dirty="0">
              <a:latin typeface="Google Sans Flex"/>
            </a:endParaRPr>
          </a:p>
          <a:p>
            <a:pPr marL="457200" lvl="1" indent="0">
              <a:lnSpc>
                <a:spcPts val="15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1800" dirty="0">
              <a:latin typeface="Google Sans Flex"/>
            </a:endParaRPr>
          </a:p>
          <a:p>
            <a:pPr lvl="1">
              <a:lnSpc>
                <a:spcPts val="15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IN" sz="1800" b="0" i="0" dirty="0">
              <a:effectLst/>
              <a:latin typeface="Google Sans Flex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IN" sz="2000" b="1" i="0" dirty="0">
              <a:effectLst/>
              <a:latin typeface="Google Sans Flex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2000" b="1" i="0" dirty="0">
                <a:effectLst/>
                <a:latin typeface="Google Sans Flex"/>
              </a:rPr>
              <a:t>Decision Logic:</a:t>
            </a:r>
            <a:r>
              <a:rPr lang="en-IN" sz="2000" b="0" i="0" dirty="0">
                <a:effectLst/>
                <a:latin typeface="Google Sans Flex"/>
              </a:rPr>
              <a:t> Continuous calculation of eye and mouth metrics against dynamic sensitivity thresholds.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sz="2000" b="1" i="0" dirty="0">
                <a:effectLst/>
                <a:latin typeface="Google Sans Flex"/>
              </a:rPr>
              <a:t>Output:</a:t>
            </a:r>
            <a:r>
              <a:rPr lang="en-IN" sz="2000" b="0" i="0" dirty="0">
                <a:effectLst/>
                <a:latin typeface="Google Sans Flex"/>
              </a:rPr>
              <a:t> Real-time visual/audio alerts and automated event logging.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B48E11-823F-69B6-987D-78266194F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587" y="1801368"/>
            <a:ext cx="375095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8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C800-E6B5-62F8-4307-12E0C87F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12" y="517485"/>
            <a:ext cx="8610600" cy="1293028"/>
          </a:xfrm>
        </p:spPr>
        <p:txBody>
          <a:bodyPr/>
          <a:lstStyle/>
          <a:p>
            <a:pPr algn="l"/>
            <a:r>
              <a:rPr lang="en-US" b="1" dirty="0"/>
              <a:t>Flowchart</a:t>
            </a:r>
            <a:endParaRPr lang="en-IN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B85AE6E-E793-199A-476A-165ACDB0C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862" y="1362456"/>
            <a:ext cx="3747946" cy="513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30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A5F2-6141-FB4B-6F19-5B14DA89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27797"/>
            <a:ext cx="8610600" cy="129302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0" dirty="0">
                <a:effectLst/>
                <a:latin typeface="Google Sans Flex"/>
              </a:rPr>
              <a:t>Core Mathematics - Eye Aspect Ratio (EAR)</a:t>
            </a:r>
            <a:br>
              <a:rPr lang="en-US" b="1" i="0" dirty="0">
                <a:effectLst/>
                <a:latin typeface="Google Sans Flex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6554F-64C3-05A0-FEA2-CE70D9457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Google Sans Flex"/>
              </a:rPr>
              <a:t>Concept:</a:t>
            </a:r>
            <a:r>
              <a:rPr lang="en-US" b="0" i="0" dirty="0">
                <a:effectLst/>
                <a:latin typeface="Google Sans Flex"/>
              </a:rPr>
              <a:t> Instead of complex image processing to determine if an eye is open, we use a scalar value based on the distances between eye landmarks.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Google Sans Flex"/>
              </a:rPr>
              <a:t>Formula: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b="0" i="0" dirty="0">
              <a:effectLst/>
              <a:latin typeface="Google Sans Flex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b="1" i="0" dirty="0">
              <a:effectLst/>
              <a:latin typeface="Google Sans Flex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Google Sans Flex"/>
              </a:rPr>
              <a:t>Explanation:</a:t>
            </a:r>
            <a:r>
              <a:rPr lang="en-US" b="0" i="0" dirty="0">
                <a:effectLst/>
                <a:latin typeface="Google Sans Flex"/>
              </a:rPr>
              <a:t> The numerator calculates the vertical distance between the eyelids, while the denominator calculates the horizontal distance. As the eye closes, the EAR approaches zero.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E23C03-F39A-5120-15A9-5C3345C99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398" y="3310128"/>
            <a:ext cx="3038899" cy="7811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411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B368-5798-4FA4-061A-1556FCB1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901532"/>
            <a:ext cx="8610600" cy="129302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0" dirty="0">
                <a:effectLst/>
                <a:latin typeface="Google Sans Flex"/>
              </a:rPr>
              <a:t>Core Mathematics - Mouth Aspect Ratio (MAR)</a:t>
            </a:r>
            <a:br>
              <a:rPr lang="en-US" b="1" i="0" dirty="0">
                <a:effectLst/>
                <a:latin typeface="Google Sans Flex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DD89C-EE15-8015-BC5D-E224EDD2E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i="0" dirty="0">
                <a:effectLst/>
                <a:latin typeface="Google Sans Flex"/>
              </a:rPr>
              <a:t>Concept:</a:t>
            </a:r>
            <a:r>
              <a:rPr lang="en-US" b="0" i="0" dirty="0">
                <a:effectLst/>
                <a:latin typeface="Google Sans Flex"/>
              </a:rPr>
              <a:t> Tracking the spatial relationship of the outer lips to detect yawning, a primary indicator of fatigue.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i="0" dirty="0">
                <a:effectLst/>
                <a:latin typeface="Google Sans Flex"/>
              </a:rPr>
              <a:t>Formula: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b="0" i="0" dirty="0">
              <a:effectLst/>
              <a:latin typeface="Google Sans Flex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Google Sans Flex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b="0" i="0" dirty="0">
              <a:effectLst/>
              <a:latin typeface="Google Sans Flex"/>
            </a:endParaRPr>
          </a:p>
          <a:p>
            <a:r>
              <a:rPr lang="en-US" b="1" i="0" dirty="0">
                <a:effectLst/>
                <a:latin typeface="Google Sans Flex"/>
              </a:rPr>
              <a:t>Explanation:</a:t>
            </a:r>
            <a:r>
              <a:rPr lang="en-US" b="0" i="0" dirty="0">
                <a:effectLst/>
                <a:latin typeface="Google Sans Flex"/>
              </a:rPr>
              <a:t> Similar to EAR, this measures the vertical opening of the mouth relative to its width. Sustained high MAR values trigger the yawn alert.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293A0-19A0-E4E1-EB31-B1C049DE7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287" y="3182030"/>
            <a:ext cx="3229426" cy="81926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893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0609-60A8-382A-47DE-5C836CD1D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8610600" cy="1293028"/>
          </a:xfrm>
        </p:spPr>
        <p:txBody>
          <a:bodyPr/>
          <a:lstStyle/>
          <a:p>
            <a:pPr algn="l"/>
            <a:r>
              <a:rPr lang="en-IN" b="1" i="0" dirty="0">
                <a:effectLst/>
                <a:latin typeface="Google Sans Flex"/>
              </a:rPr>
              <a:t>Technologies &amp; Frameworks</a:t>
            </a:r>
            <a:br>
              <a:rPr lang="en-IN" b="1" i="0" dirty="0">
                <a:effectLst/>
                <a:latin typeface="Google Sans Flex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AC4E7-693B-CA3F-A78D-3EB5791BC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b="1" i="0" dirty="0">
                <a:effectLst/>
                <a:latin typeface="Google Sans Flex"/>
              </a:rPr>
              <a:t>OpenCV:</a:t>
            </a:r>
            <a:r>
              <a:rPr lang="en-IN" b="0" i="0" dirty="0">
                <a:effectLst/>
                <a:latin typeface="Google Sans Flex"/>
              </a:rPr>
              <a:t> For real-time video capture, image matrix manipulation, and on-screen data rendering.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b="1" i="0" dirty="0" err="1">
                <a:effectLst/>
                <a:latin typeface="Google Sans Flex"/>
              </a:rPr>
              <a:t>Dlib</a:t>
            </a:r>
            <a:r>
              <a:rPr lang="en-IN" b="1" i="0" dirty="0">
                <a:effectLst/>
                <a:latin typeface="Google Sans Flex"/>
              </a:rPr>
              <a:t>:</a:t>
            </a:r>
            <a:r>
              <a:rPr lang="en-IN" b="0" i="0" dirty="0">
                <a:effectLst/>
                <a:latin typeface="Google Sans Flex"/>
              </a:rPr>
              <a:t> For robust, pre-trained </a:t>
            </a:r>
            <a:r>
              <a:rPr lang="en-IN" b="0" i="0" dirty="0" err="1">
                <a:effectLst/>
                <a:latin typeface="Google Sans Flex"/>
              </a:rPr>
              <a:t>HoG</a:t>
            </a:r>
            <a:r>
              <a:rPr lang="en-IN" b="0" i="0" dirty="0">
                <a:effectLst/>
                <a:latin typeface="Google Sans Flex"/>
              </a:rPr>
              <a:t> (Histogram of Oriented Gradients) face detection and shape prediction.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b="1" i="0" dirty="0">
                <a:effectLst/>
                <a:latin typeface="Google Sans Flex"/>
              </a:rPr>
              <a:t>Python (</a:t>
            </a:r>
            <a:r>
              <a:rPr lang="en-IN" b="1" i="0" dirty="0" err="1">
                <a:effectLst/>
                <a:latin typeface="Google Sans Flex"/>
              </a:rPr>
              <a:t>Tkinter</a:t>
            </a:r>
            <a:r>
              <a:rPr lang="en-IN" b="1" i="0" dirty="0">
                <a:effectLst/>
                <a:latin typeface="Google Sans Flex"/>
              </a:rPr>
              <a:t>):</a:t>
            </a:r>
            <a:r>
              <a:rPr lang="en-IN" b="0" i="0" dirty="0">
                <a:effectLst/>
                <a:latin typeface="Google Sans Flex"/>
              </a:rPr>
              <a:t> Built a multi-threaded, responsive graphical user interface to separate the heavy video processing loop from the UI.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IN" b="1" i="0" dirty="0">
                <a:effectLst/>
                <a:latin typeface="Google Sans Flex"/>
              </a:rPr>
              <a:t>Data Handling:</a:t>
            </a:r>
            <a:r>
              <a:rPr lang="en-IN" b="0" i="0" dirty="0">
                <a:effectLst/>
                <a:latin typeface="Google Sans Flex"/>
              </a:rPr>
              <a:t> Implemented CSV, JSON, and HTML exporting modules for post-session safety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795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BC2F-833E-AFBB-65B7-A17E6EA2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487"/>
            <a:ext cx="10515600" cy="67310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i="0" dirty="0">
                <a:effectLst/>
                <a:latin typeface="Google Sans Flex"/>
              </a:rPr>
              <a:t>Key Features &amp; Demo</a:t>
            </a:r>
            <a:br>
              <a:rPr lang="en-IN" b="1" i="0" dirty="0">
                <a:effectLst/>
                <a:latin typeface="Google Sans Flex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BABEB8-E23E-E738-B07D-92A0709F7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09857"/>
            <a:ext cx="4648284" cy="27035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063040-5DA3-19D7-1441-584825EEA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18" y="1038479"/>
            <a:ext cx="4648282" cy="27035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BC8D99-2929-F2E0-3D9B-1D8F965AE7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54487"/>
            <a:ext cx="4648284" cy="2496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A54BFF-2B94-6DEC-9226-6A5685026947}"/>
              </a:ext>
            </a:extLst>
          </p:cNvPr>
          <p:cNvSpPr txBox="1"/>
          <p:nvPr/>
        </p:nvSpPr>
        <p:spPr>
          <a:xfrm>
            <a:off x="6096000" y="4065195"/>
            <a:ext cx="584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Live Metrics:</a:t>
            </a:r>
            <a:r>
              <a:rPr lang="en-US" dirty="0"/>
              <a:t> Real-time display of EAR/MAR values and a dynamic "Safety Score" gauge.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Adjustable Sensitivity:</a:t>
            </a:r>
            <a:r>
              <a:rPr lang="en-US" dirty="0"/>
              <a:t> Low, Normal, and High profiles to account for different drivers and lighting conditions.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err="1"/>
              <a:t>Failsafes</a:t>
            </a:r>
            <a:r>
              <a:rPr lang="en-US" b="1" dirty="0"/>
              <a:t>:</a:t>
            </a:r>
            <a:r>
              <a:rPr lang="en-US" dirty="0"/>
              <a:t> "No Driver Detected" auto-pause functionality to prevent false positives when the camera view is obstructed.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561B81-F023-1545-2164-0FE4EBDBCF3D}"/>
              </a:ext>
            </a:extLst>
          </p:cNvPr>
          <p:cNvSpPr txBox="1"/>
          <p:nvPr/>
        </p:nvSpPr>
        <p:spPr>
          <a:xfrm>
            <a:off x="1802384" y="3513370"/>
            <a:ext cx="243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Eye Aspect Ratio (EAR)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E7D769-61A8-96BD-21FD-22680BF29D21}"/>
              </a:ext>
            </a:extLst>
          </p:cNvPr>
          <p:cNvSpPr txBox="1"/>
          <p:nvPr/>
        </p:nvSpPr>
        <p:spPr>
          <a:xfrm>
            <a:off x="7715929" y="345944"/>
            <a:ext cx="281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Mouth Aspect Ratio (MAR)</a:t>
            </a:r>
          </a:p>
        </p:txBody>
      </p:sp>
    </p:spTree>
    <p:extLst>
      <p:ext uri="{BB962C8B-B14F-4D97-AF65-F5344CB8AC3E}">
        <p14:creationId xmlns:p14="http://schemas.microsoft.com/office/powerpoint/2010/main" val="402263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4201B-C9CF-DB12-7C50-20504697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73517"/>
            <a:ext cx="8610600" cy="1293028"/>
          </a:xfrm>
        </p:spPr>
        <p:txBody>
          <a:bodyPr>
            <a:normAutofit fontScale="90000"/>
          </a:bodyPr>
          <a:lstStyle/>
          <a:p>
            <a:pPr algn="l"/>
            <a:r>
              <a:rPr lang="en-IN" b="1" i="0" dirty="0">
                <a:effectLst/>
                <a:latin typeface="Google Sans Flex"/>
              </a:rPr>
              <a:t>Future Scope &amp; Hardware Integration</a:t>
            </a:r>
            <a:br>
              <a:rPr lang="en-IN" b="1" i="0" dirty="0">
                <a:effectLst/>
                <a:latin typeface="Google Sans Flex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466F1-E2C3-18FD-5FD3-E66FB0971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Google Sans Flex"/>
              </a:rPr>
              <a:t>Edge Computing Deployment:</a:t>
            </a:r>
            <a:r>
              <a:rPr lang="en-US" b="0" i="0" dirty="0">
                <a:effectLst/>
                <a:latin typeface="Google Sans Flex"/>
              </a:rPr>
              <a:t> Porting the Python backend to run on an embedded device like a Raspberry Pi 5 for self-contained, in-vehicle use.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b="0" i="0" dirty="0">
              <a:effectLst/>
              <a:latin typeface="Google Sans Flex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Google Sans Flex"/>
              </a:rPr>
              <a:t>Hardware Control:</a:t>
            </a:r>
            <a:r>
              <a:rPr lang="en-US" b="0" i="0" dirty="0">
                <a:effectLst/>
                <a:latin typeface="Google Sans Flex"/>
              </a:rPr>
              <a:t> Wiring the alert triggers to physical dashboard buzzers or LED arrays using GPIO pins.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US" b="0" i="0" dirty="0">
              <a:effectLst/>
              <a:latin typeface="Google Sans Flex"/>
            </a:endParaRPr>
          </a:p>
          <a:p>
            <a:pPr>
              <a:lnSpc>
                <a:spcPts val="15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 i="0" dirty="0">
                <a:effectLst/>
                <a:latin typeface="Google Sans Flex"/>
              </a:rPr>
              <a:t>Model Upgrades:</a:t>
            </a:r>
            <a:r>
              <a:rPr lang="en-US" b="0" i="0" dirty="0">
                <a:effectLst/>
                <a:latin typeface="Google Sans Flex"/>
              </a:rPr>
              <a:t> Transitioning from the </a:t>
            </a:r>
            <a:r>
              <a:rPr lang="en-US" b="0" i="0" dirty="0" err="1">
                <a:effectLst/>
                <a:latin typeface="Google Sans Mono"/>
              </a:rPr>
              <a:t>dlib</a:t>
            </a:r>
            <a:r>
              <a:rPr lang="en-US" b="0" i="0" dirty="0">
                <a:effectLst/>
                <a:latin typeface="Google Sans Flex"/>
              </a:rPr>
              <a:t> shape predictor to a</a:t>
            </a:r>
          </a:p>
          <a:p>
            <a:pPr marL="0" indent="0">
              <a:lnSpc>
                <a:spcPts val="15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0" i="0" dirty="0">
                <a:effectLst/>
                <a:latin typeface="Google Sans Flex"/>
              </a:rPr>
              <a:t>  lightweight Artificial Neural Network (ANN) to improve framerates on</a:t>
            </a:r>
          </a:p>
          <a:p>
            <a:pPr marL="0" indent="0">
              <a:lnSpc>
                <a:spcPts val="15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0" i="0" dirty="0">
                <a:effectLst/>
                <a:latin typeface="Google Sans Flex"/>
              </a:rPr>
              <a:t>  resource-constrained edge devices.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911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4CA0-6B45-D194-E322-1F8909068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4373"/>
            <a:ext cx="8610600" cy="1293028"/>
          </a:xfrm>
        </p:spPr>
        <p:txBody>
          <a:bodyPr/>
          <a:lstStyle/>
          <a:p>
            <a:pPr algn="l"/>
            <a:r>
              <a:rPr lang="en-IN" b="1" i="0">
                <a:effectLst/>
                <a:latin typeface="Google Sans Flex"/>
              </a:rPr>
              <a:t>Conclusion </a:t>
            </a:r>
            <a:br>
              <a:rPr lang="en-IN" b="1" i="0" dirty="0">
                <a:effectLst/>
                <a:latin typeface="Google Sans Flex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EA2CA-4897-1606-2E0B-DDF22BE65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Google Sans Flex"/>
              </a:rPr>
              <a:t>The system successfully bridges software engineering with computer vision to create a scalable, data-driven safety tool.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269041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20</TotalTime>
  <Words>540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Google Sans Flex</vt:lpstr>
      <vt:lpstr>Google Sans Mono</vt:lpstr>
      <vt:lpstr>Wingdings</vt:lpstr>
      <vt:lpstr>Vapor Trail</vt:lpstr>
      <vt:lpstr>Spatial Facial Landmark Tracking for Automated Drowsiness Detection</vt:lpstr>
      <vt:lpstr>Problem Statement </vt:lpstr>
      <vt:lpstr>System Architecture </vt:lpstr>
      <vt:lpstr>Flowchart</vt:lpstr>
      <vt:lpstr>Core Mathematics - Eye Aspect Ratio (EAR) </vt:lpstr>
      <vt:lpstr>Core Mathematics - Mouth Aspect Ratio (MAR) </vt:lpstr>
      <vt:lpstr>Technologies &amp; Frameworks </vt:lpstr>
      <vt:lpstr>Key Features &amp; Demo </vt:lpstr>
      <vt:lpstr>Future Scope &amp; Hardware Integration 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kashi vishwanath</dc:creator>
  <cp:lastModifiedBy>kashi vishwanath</cp:lastModifiedBy>
  <cp:revision>2</cp:revision>
  <dcterms:created xsi:type="dcterms:W3CDTF">2026-03-15T15:45:22Z</dcterms:created>
  <dcterms:modified xsi:type="dcterms:W3CDTF">2026-03-25T16:06:44Z</dcterms:modified>
</cp:coreProperties>
</file>